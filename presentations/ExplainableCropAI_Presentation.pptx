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E5631"/>
                </a:solidFill>
              </a:defRPr>
            </a:pPr>
            <a:r>
              <a:t>ExplainableCropAI: Interpretable Deep Learning for Agricultural Disease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1976D2"/>
                </a:solidFill>
              </a:defRPr>
            </a:pPr>
            <a:r>
              <a:t>Santosh Kumar, Durgesh Nandan, Sumit Kumar</a:t>
            </a:r>
          </a:p>
          <a:p>
            <a:r>
              <a:t>Symbiosis Institute of Technology</a:t>
            </a:r>
          </a:p>
          <a:p>
            <a:r>
              <a:t>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>
                <a:solidFill>
                  <a:srgbClr val="333333"/>
                </a:solidFill>
              </a:defRPr>
            </a:pPr>
            <a:r>
              <a:t>Black-box AI systems limit farmer trust and adoption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Statistics: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78% of farmers cite 'lack of understanding how AI makes decisions' as a primary concern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10-30% annual crop losses due to paddy diseases globally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Key Question: How can we make advanced disease detection technology trustworthy and actionable for farmers?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Current Approaches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Current State: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High accuracy models (&gt;95%) but with minimal interpretability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Disconnection between prediction and actionable recommendations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Uncertainty not communicated to users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Limitations: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Farmers don't trust what they don't understand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No support for decision-making beyond classification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No adaptation to different levels of expertise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Our Approach - ExplainableCropAI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>
                <a:solidFill>
                  <a:srgbClr val="333333"/>
                </a:solidFill>
              </a:defRPr>
            </a:pPr>
            <a:r>
              <a:t>A framework for interpretable disease detection that bridges the technical-practical gap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Key Innovations: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Multi-level explanation system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Uncertainty-aware predictions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Domain-specific explanation templates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Context-aware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System Architecture</a:t>
            </a:r>
          </a:p>
        </p:txBody>
      </p:sp>
      <p:pic>
        <p:nvPicPr>
          <p:cNvPr id="3" name="Picture 2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8229600" cy="6685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976D2"/>
                </a:solidFill>
              </a:defRPr>
            </a:pPr>
            <a:r>
              <a:t>ExplainableCropAI system architecture showing data flow between components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Base Disease Detection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Architecture: Modified ResNet50 designed for explainability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Key Features: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Preserved spatial information for visual explanations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Integrated dropout layers for uncertainty estimation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Hooks for capturing activations and gradients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Performance: 97.2% accuracy on standard test set, 91.4% on challenging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Multi-level Explanation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Visual Explanations: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Grad-CAM for highlighting important image regions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72% IoU with ground truth disease regions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Uncertainty Quantification: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Monte Carlo Dropout for Bayesian uncertainty estimation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Distinction between aleatoric and epistemic uncertainty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Natural Language Explanations: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Domain-specific templates for agricultural context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Adaptive confidence expression based on uncertainty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Visual Explanations in Detail</a:t>
            </a:r>
          </a:p>
        </p:txBody>
      </p:sp>
      <p:pic>
        <p:nvPicPr>
          <p:cNvPr id="3" name="Picture 2" descr="gradcam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8229600" cy="122459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976D2"/>
                </a:solidFill>
              </a:defRPr>
            </a:pPr>
            <a:r>
              <a:t>Grad-CAM visualizations for different paddy diseases: original image, heatmap, and overlay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Uncertainty Quantification</a:t>
            </a:r>
          </a:p>
        </p:txBody>
      </p:sp>
      <p:pic>
        <p:nvPicPr>
          <p:cNvPr id="3" name="Picture 2" descr="uncertainty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8229600" cy="65888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976D2"/>
                </a:solidFill>
              </a:defRPr>
            </a:pPr>
            <a:r>
              <a:t>Uncertainty metrics: MC Dropout samples, predictive entropy, and confidence intervals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Natural Language Explanations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Template-based Generation: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Disease identification templates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Visual evidence descriptions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Confidence expressions at different levels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Comparison with similar diseases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Evaluation: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BLEU score of 0.78 compared to expert-written explanations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93% rated as 'clear and understandable' by farmers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Context-aware Recommendation Engine</a:t>
            </a:r>
          </a:p>
        </p:txBody>
      </p:sp>
      <p:pic>
        <p:nvPicPr>
          <p:cNvPr id="3" name="Picture 2" descr="uncertainty_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8229600" cy="4581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976D2"/>
                </a:solidFill>
              </a:defRPr>
            </a:pPr>
            <a:r>
              <a:t>Relationship between prediction uncertainty and recommendation confidence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User Study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Participants: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50 farmers (varying expertise levels)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15 agricultural extension officers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10 agricultural researchers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Study Design: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Within-subjects comparison of system versions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Mixed-methods evaluation (quantitative + qualitative)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Measures: decision accuracy, trust, mental workload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Technical 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Disease Detection Performance: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97.2% accuracy, 96.9% F1-score on standard test set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Comparable to state-of-the-art non-explainable models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Explanation Quality: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72% IoU with ground truth for visual explanations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BLEU score of 0.78 for natural language explanations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Uncertainty Estimation: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Expected Calibration Error (ECE) of 0.032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91% accuracy in identifying out-of-distribution samples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User Study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Impact on Farmer Trust: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53% increase in trust with full explanations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89% of farmers more likely to adopt the system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Decision Quality: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29% improvement in treatment decision accuracy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42% reduction in unnecessary pesticide recommendations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Workload Impact: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31% reduction in mental workload for diagnosis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Faster decision time (avg. 2.3 min vs. 4.1 min)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Qualitative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Visual Explanations: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Preferred by extension officers and researchers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"Now I can verify if the system is looking at the right things"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Natural Language Explanations: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Preferred by farmers, especially those with less experience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"I learn something new each time I use it"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Uncertainty Communication: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Initial confusion but ultimate appreciation for honesty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Enables appropriate trust calibration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Case Study: Field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Setting: Two-week field deployment with 5 extension officers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Key Observations: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System primarily used as verification tool (68% of cases)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High interest in visual explanations from farmers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Recommendations adapted to local availability in 82% of cases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User Quotes: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"This is like having an expert colleague to consult with"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"I trust it more because it shows me why and expresses doubt when appropriate"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System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Key Features: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Disease detection with confidence score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Multi-level explanations (visual, textual)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Context-aware treatment recommendations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Interaction Points: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Adjusting confidence thresholds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Providing additional context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Requesting alternative treatments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Current Limitations: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Dataset geographic constraints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Manual input of some contextual factors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No adaptation to user expertise over time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Future Directions: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Personalized and interactive explanations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Multimodal inputs beyond images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Lighter-weight implementations for mobile devices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Longitudinal studies of learning effects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Broader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Agricultural Sustainability: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Earlier disease detection and targeted interventions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Reduced unnecessary pesticide application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Knowledge transfer to underserved regions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Explainable AI Applications: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Blueprint for other high-stakes domains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Bridging AI performance and human interpretability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Responsible AI deployment 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Summary of Contributions: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Multi-level explanation framework for agricultural disease detection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Demonstrated impact on trust (+53%) and decision quality (+29%)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Integration of uncertainty awareness and domain knowledge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Take-home Message: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Explainability transforms AI from a black-box prediction tool to an assistive technology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Explainability need not come at the cost of accuracy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Acknowledgments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Acknowledgments: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Participating farmers and extension officers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Department of Agriculture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Funding sources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Key References: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Selvaraju et al. (2017). Grad-CAM: Visual Explanations from Deep Networks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Gal &amp; Ghahramani (2016). Dropout as a Bayesian Approximation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Das et al. (2020). Paddy Doctor Dataset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Contact: santosh.kumar@example.com | github.com/santoshray02/ExplainableCropAI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333333"/>
                </a:solidFill>
              </a:defRPr>
            </a:pPr>
            <a:r>
              <a:t>Discussion Prompts: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What other agricultural domains could benefit from explainable AI?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How might these approaches be adapted for farmers with varying technology access?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What are the key barriers to adoption in different agricultural contexts?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