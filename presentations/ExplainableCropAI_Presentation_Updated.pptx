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5" d="100"/>
          <a:sy n="105" d="100"/>
        </p:scale>
        <p:origin x="798" y="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08212" y="831977"/>
            <a:ext cx="7772400" cy="1470025"/>
          </a:xfrm>
        </p:spPr>
        <p:txBody>
          <a:bodyPr>
            <a:normAutofit fontScale="90000"/>
          </a:bodyPr>
          <a:lstStyle/>
          <a:p>
            <a:pPr>
              <a:defRPr sz="4400" b="1">
                <a:solidFill>
                  <a:srgbClr val="1E5631"/>
                </a:solidFill>
              </a:defRPr>
            </a:pPr>
            <a:r>
              <a:rPr dirty="0" err="1"/>
              <a:t>ExplainableCropAI</a:t>
            </a:r>
            <a:r>
              <a:rPr dirty="0"/>
              <a:t>: Interpretable Deep Learning for Agricultural Disease Detection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715768" y="3009900"/>
            <a:ext cx="6400800" cy="1752600"/>
          </a:xfrm>
        </p:spPr>
        <p:txBody>
          <a:bodyPr>
            <a:normAutofit fontScale="92500" lnSpcReduction="20000"/>
          </a:bodyPr>
          <a:lstStyle/>
          <a:p>
            <a:pPr>
              <a:defRPr sz="2800">
                <a:solidFill>
                  <a:srgbClr val="1976D2"/>
                </a:solidFill>
              </a:defRPr>
            </a:pPr>
            <a:r>
              <a:rPr dirty="0"/>
              <a:t>Santosh Kumar, </a:t>
            </a:r>
            <a:r>
              <a:rPr lang="en-IN" dirty="0"/>
              <a:t>Dr. </a:t>
            </a:r>
            <a:r>
              <a:rPr dirty="0"/>
              <a:t>Durgesh Nandan, </a:t>
            </a:r>
            <a:r>
              <a:rPr lang="en-IN" dirty="0"/>
              <a:t>Dr. </a:t>
            </a:r>
            <a:r>
              <a:rPr dirty="0"/>
              <a:t>Sumit Kumar</a:t>
            </a:r>
          </a:p>
          <a:p>
            <a:r>
              <a:rPr dirty="0"/>
              <a:t>Symbiosis Institute of Technology</a:t>
            </a:r>
          </a:p>
          <a:p>
            <a:r>
              <a:rPr dirty="0"/>
              <a:t>May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37360" y="274638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rPr dirty="0"/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21865" y="1166018"/>
            <a:ext cx="8229600" cy="4525963"/>
          </a:xfrm>
        </p:spPr>
        <p:txBody>
          <a:bodyPr>
            <a:normAutofit fontScale="92500"/>
          </a:bodyPr>
          <a:lstStyle/>
          <a:p>
            <a:endParaRPr dirty="0"/>
          </a:p>
          <a:p>
            <a:pPr>
              <a:defRPr sz="2800" b="1">
                <a:solidFill>
                  <a:srgbClr val="333333"/>
                </a:solidFill>
              </a:defRPr>
            </a:pPr>
            <a:r>
              <a:rPr dirty="0"/>
              <a:t>Black-box AI systems limit farmer trust and adoption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dirty="0"/>
              <a:t>Statistics: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78% of farmers cite 'lack of understanding how AI makes decisions' as a primary concern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10-30% annual crop losses due to paddy diseases globally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dirty="0"/>
              <a:t>Key Question: How can we make advanced disease detection technology trustworthy and actionable for farmers?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57400" y="160337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rPr dirty="0"/>
              <a:t>Current Approaches and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21408" y="1303337"/>
            <a:ext cx="8229600" cy="4525963"/>
          </a:xfrm>
        </p:spPr>
        <p:txBody>
          <a:bodyPr>
            <a:normAutofit fontScale="92500" lnSpcReduction="10000"/>
          </a:bodyPr>
          <a:lstStyle/>
          <a:p>
            <a:endParaRPr dirty="0"/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dirty="0"/>
              <a:t>Current State: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High accuracy models (&gt;95%) but with minimal interpretability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Disconnection between prediction and actionable recommendations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Uncertainty not communicated to users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dirty="0"/>
              <a:t>Limitations: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Farmers don't trust what they don't understand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No support for decision-making beyond classification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No adaptation to different levels of expertise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46504" y="297179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rPr dirty="0"/>
              <a:t>Our Approach - </a:t>
            </a:r>
            <a:r>
              <a:rPr dirty="0" err="1"/>
              <a:t>ExplainableCropAI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112264" y="1463358"/>
            <a:ext cx="8229600" cy="4525963"/>
          </a:xfrm>
        </p:spPr>
        <p:txBody>
          <a:bodyPr/>
          <a:lstStyle/>
          <a:p>
            <a:endParaRPr dirty="0"/>
          </a:p>
          <a:p>
            <a:pPr>
              <a:defRPr sz="2800" b="1">
                <a:solidFill>
                  <a:srgbClr val="333333"/>
                </a:solidFill>
              </a:defRPr>
            </a:pPr>
            <a:r>
              <a:rPr dirty="0"/>
              <a:t>A framework for interpretable disease detection that bridges the technical-practical gap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dirty="0"/>
              <a:t>Key Innovations: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Multi-level explanation system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Uncertainty-aware predictions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Domain-specific explanation templates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Context-aware recommendations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System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976D2"/>
                </a:solidFill>
              </a:defRPr>
            </a:pPr>
            <a:r>
              <a:t>ExplainableCropAI system architecture showing data flow between components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8376" y="1633548"/>
            <a:ext cx="4654296" cy="378113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302388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rPr dirty="0"/>
              <a:t>Base Disease Detection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612" y="1691640"/>
            <a:ext cx="8229600" cy="4525963"/>
          </a:xfrm>
        </p:spPr>
        <p:txBody>
          <a:bodyPr/>
          <a:lstStyle/>
          <a:p>
            <a:endParaRPr dirty="0"/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dirty="0"/>
              <a:t>Architecture: Modified ResNet50 designed for explainability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dirty="0"/>
              <a:t>Key Features: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Preserved spatial information for visual explanations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Integrated dropout layers for uncertainty estimation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Hooks for capturing activations and gradients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dirty="0"/>
              <a:t>Performance: 97.2% accuracy on standard test set, 91.4% on challenging conditions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Multi-level Explanation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sz="2400" dirty="0"/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400" dirty="0"/>
              <a:t>Visual Explanations: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400" dirty="0"/>
              <a:t>Grad-CAM for highlighting important image regions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400" dirty="0"/>
              <a:t>72% </a:t>
            </a:r>
            <a:r>
              <a:rPr sz="2400" dirty="0" err="1"/>
              <a:t>IoU</a:t>
            </a:r>
            <a:r>
              <a:rPr sz="2400" dirty="0"/>
              <a:t> with ground truth disease regions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400" dirty="0"/>
              <a:t>Uncertainty Quantification: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400" dirty="0"/>
              <a:t>Monte Carlo Dropout for Bayesian uncertainty estimation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400" dirty="0"/>
              <a:t>Distinction between aleatoric and epistemic uncertainty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400" dirty="0"/>
              <a:t>Natural Language Explanations: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400" dirty="0"/>
              <a:t>Domain-specific templates for agricultural context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400" dirty="0"/>
              <a:t>Adaptive confidence expression based on uncertainty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Visual Explanations in Detail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976D2"/>
                </a:solidFill>
              </a:defRPr>
            </a:pPr>
            <a:r>
              <a:t>Grad-CAM visualizations for different paddy diseases: original image, heatmap, and overlay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4929" y="119452"/>
            <a:ext cx="3675886" cy="546984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Uncertainty Quantification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976D2"/>
                </a:solidFill>
              </a:defRPr>
            </a:pPr>
            <a:r>
              <a:t>Uncertainty metrics: MC Dropout samples, predictive entropy, and confidence intervals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6896" y="1417638"/>
            <a:ext cx="5449824" cy="4363289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79612" y="293244"/>
            <a:ext cx="8229600" cy="1143000"/>
          </a:xfrm>
        </p:spPr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rPr dirty="0"/>
              <a:t>Natural Language Explanations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79612" y="1517904"/>
            <a:ext cx="8229600" cy="4525963"/>
          </a:xfrm>
        </p:spPr>
        <p:txBody>
          <a:bodyPr>
            <a:normAutofit lnSpcReduction="10000"/>
          </a:bodyPr>
          <a:lstStyle/>
          <a:p>
            <a:endParaRPr dirty="0"/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dirty="0"/>
              <a:t>Template-based Generation: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Disease identification templates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Visual evidence descriptions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Confidence expressions at different levels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Comparison with similar diseases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dirty="0"/>
              <a:t>Evaluation: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BLEU score of 0.78 compared to expert-written explanations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93% rated as 'clear and understandable' by farmers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Context-aware Recommendation Engine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0" y="594360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1976D2"/>
                </a:solidFill>
              </a:defRPr>
            </a:pPr>
            <a:r>
              <a:t>Relationship between prediction uncertainty and recommendation confidence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0" y="1645920"/>
            <a:ext cx="8229600" cy="4581983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User Study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800">
                <a:solidFill>
                  <a:srgbClr val="333333"/>
                </a:solidFill>
              </a:defRPr>
            </a:pPr>
            <a:r>
              <a:t>Participants: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50 farmers (varying expertise levels)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15 agricultural extension officers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10 agricultural researchers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Study Design: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Within-subjects comparison of system versions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Mixed-methods evaluation (quantitative + qualitative)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Measures: decision accuracy, trust, mental workload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Technical Evaluation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800" dirty="0"/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400" dirty="0"/>
              <a:t>Disease Detection Performance: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400" dirty="0"/>
              <a:t>97.2% accuracy, 96.9% F1-score on standard test set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400" dirty="0"/>
              <a:t>Comparable to state-of-the-art non-explainable models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400" dirty="0"/>
              <a:t>Explanation Quality: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400" dirty="0"/>
              <a:t>72% </a:t>
            </a:r>
            <a:r>
              <a:rPr sz="2400" dirty="0" err="1"/>
              <a:t>IoU</a:t>
            </a:r>
            <a:r>
              <a:rPr sz="2400" dirty="0"/>
              <a:t> with ground truth for visual explanations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400" dirty="0"/>
              <a:t>BLEU score of 0.78 for natural language explanations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400" dirty="0"/>
              <a:t>Uncertainty Estimation: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400" dirty="0"/>
              <a:t>Expected Calibration Error (ECE) of 0.032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400" dirty="0"/>
              <a:t>91% accuracy in identifying out-of-distribution samples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User Study Results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 dirty="0"/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000" dirty="0"/>
              <a:t>Impact on Farmer Trust: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53% increase in trust with full explanations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89% of farmers more likely to adopt the system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000" dirty="0"/>
              <a:t>Decision Quality: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29% improvement in treatment decision accuracy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42% reduction in unnecessary pesticide recommendations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000" dirty="0"/>
              <a:t>Workload Impact: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31% reduction in mental workload for diagnosis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Faster decision time (avg. 2.3 min vs. 4.1 min)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Qualitative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 dirty="0"/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000" dirty="0"/>
              <a:t>Visual Explanations: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Preferred by extension officers and researchers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"Now I can verify if the system is looking at the right things"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000" dirty="0"/>
              <a:t>Natural Language Explanations: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Preferred by farmers, especially those with less experience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"I learn something new each time I use it"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000" dirty="0"/>
              <a:t>Uncertainty Communication: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Initial confusion but ultimate appreciation for honesty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Enables appropriate trust calibration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Case Study: Field Deployment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 dirty="0"/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000" dirty="0"/>
              <a:t>Setting: Two-week field deployment with 5 extension officers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000" dirty="0"/>
              <a:t>Key Observations: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System primarily used as verification tool (68% of cases)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High interest in visual explanations from farmers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Recommendations adapted to local availability in 82% of cases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000" dirty="0"/>
              <a:t>User Quotes: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"This is like having an expert colleague to consult with"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"I trust it more because it shows me why and expresses doubt when appropriate"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System Demonstration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dirty="0"/>
              <a:t>Key Features: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Disease detection with confidence score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Multi-level explanations (visual, textual)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Context-aware treatment recommendations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dirty="0"/>
              <a:t>Interaction Points: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Adjusting confidence thresholds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Providing additional context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dirty="0"/>
              <a:t>Requesting alternative treatments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Limitations and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800">
                <a:solidFill>
                  <a:srgbClr val="333333"/>
                </a:solidFill>
              </a:defRPr>
            </a:pPr>
            <a:r>
              <a:t>Current Limitations: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Dataset geographic constraints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Manual input of some contextual factors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No adaptation to user expertise over time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Future Directions: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Personalized and interactive explanations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Multimodal inputs beyond images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Lighter-weight implementations for mobile devices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Longitudinal studies of learning effects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Broader Impact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800">
                <a:solidFill>
                  <a:srgbClr val="333333"/>
                </a:solidFill>
              </a:defRPr>
            </a:pPr>
            <a:r>
              <a:t>Agricultural Sustainability: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Earlier disease detection and targeted interventions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Reduced unnecessary pesticide application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Knowledge transfer to underserved regions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t>Explainable AI Applications: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Blueprint for other high-stakes domains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Bridging AI performance and human interpretability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Responsible AI deployment model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400" dirty="0"/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000" dirty="0"/>
              <a:t>Summary of Contributions: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Multi-level explanation framework for agricultural disease detection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Demonstrated impact on trust (+53%) and decision quality (+29%)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Integration of uncertainty awareness and domain knowledge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2000" dirty="0"/>
              <a:t>Take-home Message: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Explainability transforms AI from a black-box prediction tool to an assistive technology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2000" dirty="0"/>
              <a:t>Explainability need not come at the cost of accuracy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Acknowledgments &amp; References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endParaRPr sz="2000" dirty="0"/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1800" dirty="0"/>
              <a:t>Acknowledgments: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1800" dirty="0"/>
              <a:t>Participating farmers and extension officers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1800" dirty="0"/>
              <a:t>Department of Agriculture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1800" dirty="0"/>
              <a:t>Funding sources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1800" dirty="0"/>
              <a:t>Key References: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1800" dirty="0"/>
              <a:t>Selvaraju et al. (2017). Grad-CAM: Visual Explanations from Deep Networks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1800" dirty="0"/>
              <a:t>Gal &amp; Ghahramani (2016). Dropout as a Bayesian Approximation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rPr sz="1800" dirty="0"/>
              <a:t>Das et al. (2020). Paddy Doctor Dataset</a:t>
            </a:r>
          </a:p>
          <a:p>
            <a:pPr>
              <a:defRPr sz="2800">
                <a:solidFill>
                  <a:srgbClr val="333333"/>
                </a:solidFill>
              </a:defRPr>
            </a:pPr>
            <a:r>
              <a:rPr sz="1800" dirty="0"/>
              <a:t>Contact: </a:t>
            </a:r>
            <a:r>
              <a:rPr lang="en-IN" sz="1800" dirty="0"/>
              <a:t>santosh.kumar.mtech2022@sitpune.edu.in</a:t>
            </a:r>
            <a:r>
              <a:rPr sz="1800" dirty="0"/>
              <a:t>| github.com/santoshray02/</a:t>
            </a:r>
            <a:r>
              <a:rPr sz="1800" dirty="0" err="1"/>
              <a:t>ExplainableCropAI</a:t>
            </a:r>
            <a:endParaRPr sz="18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B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600" b="1">
                <a:solidFill>
                  <a:srgbClr val="1E5631"/>
                </a:solidFill>
              </a:defRPr>
            </a:pPr>
            <a:r>
              <a:t>Questions &amp; Discussion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defRPr sz="2800">
                <a:solidFill>
                  <a:srgbClr val="333333"/>
                </a:solidFill>
              </a:defRPr>
            </a:pPr>
            <a:r>
              <a:t>Discussion Prompts: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What other agricultural domains could benefit from explainable AI?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How might these approaches be adapted for farmers with varying technology access?</a:t>
            </a:r>
          </a:p>
          <a:p>
            <a:pPr lvl="1">
              <a:defRPr sz="2600">
                <a:solidFill>
                  <a:srgbClr val="333333"/>
                </a:solidFill>
              </a:defRPr>
            </a:pPr>
            <a:r>
              <a:t>What are the key barriers to adoption in different agricultural contexts?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Explanation Process Flow</a:t>
            </a:r>
          </a:p>
        </p:txBody>
      </p:sp>
      <p:pic>
        <p:nvPicPr>
          <p:cNvPr id="3" name="Picture 2" descr="explanation_flow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0078" y="1417638"/>
            <a:ext cx="6548884" cy="4405977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Detailed Confusion Matrix</a:t>
            </a:r>
          </a:p>
        </p:txBody>
      </p:sp>
      <p:pic>
        <p:nvPicPr>
          <p:cNvPr id="3" name="Picture 2" descr="confusion_matrix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67128" y="1528297"/>
            <a:ext cx="5831128" cy="4866645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User Study Results</a:t>
            </a:r>
          </a:p>
        </p:txBody>
      </p:sp>
      <p:pic>
        <p:nvPicPr>
          <p:cNvPr id="3" name="Picture 2" descr="user_study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59152" y="1301479"/>
            <a:ext cx="5337352" cy="4962858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Explanation Effectiveness by Task</a:t>
            </a:r>
          </a:p>
        </p:txBody>
      </p:sp>
      <p:pic>
        <p:nvPicPr>
          <p:cNvPr id="3" name="Picture 2" descr="explanation_effective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3006" y="1251465"/>
            <a:ext cx="6916530" cy="451423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964</Words>
  <Application>Microsoft Office PowerPoint</Application>
  <PresentationFormat>Custom</PresentationFormat>
  <Paragraphs>180</Paragraphs>
  <Slides>26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ExplainableCropAI: Interpretable Deep Learning for Agricultural Disease Detection</vt:lpstr>
      <vt:lpstr>The Problem</vt:lpstr>
      <vt:lpstr>Current Approaches and Limitations</vt:lpstr>
      <vt:lpstr>Our Approach - ExplainableCropAI</vt:lpstr>
      <vt:lpstr>System Architecture</vt:lpstr>
      <vt:lpstr>Base Disease Detection Model</vt:lpstr>
      <vt:lpstr>Multi-level Explanation System</vt:lpstr>
      <vt:lpstr>Visual Explanations in Detail</vt:lpstr>
      <vt:lpstr>Uncertainty Quantification</vt:lpstr>
      <vt:lpstr>Natural Language Explanations</vt:lpstr>
      <vt:lpstr>Context-aware Recommendation Engine</vt:lpstr>
      <vt:lpstr>User Study Design</vt:lpstr>
      <vt:lpstr>Technical Evaluation Results</vt:lpstr>
      <vt:lpstr>User Study Results</vt:lpstr>
      <vt:lpstr>Qualitative Insights</vt:lpstr>
      <vt:lpstr>Case Study: Field Deployment</vt:lpstr>
      <vt:lpstr>System Demonstration</vt:lpstr>
      <vt:lpstr>Limitations and Future Work</vt:lpstr>
      <vt:lpstr>Broader Impact</vt:lpstr>
      <vt:lpstr>Conclusion</vt:lpstr>
      <vt:lpstr>Acknowledgments &amp; References</vt:lpstr>
      <vt:lpstr>Questions &amp; Discussion</vt:lpstr>
      <vt:lpstr>Explanation Process Flow</vt:lpstr>
      <vt:lpstr>Detailed Confusion Matrix</vt:lpstr>
      <vt:lpstr>User Study Results</vt:lpstr>
      <vt:lpstr>Explanation Effectiveness by Task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SANTOSH RAY</cp:lastModifiedBy>
  <cp:revision>9</cp:revision>
  <dcterms:created xsi:type="dcterms:W3CDTF">2013-01-27T09:14:16Z</dcterms:created>
  <dcterms:modified xsi:type="dcterms:W3CDTF">2025-06-02T15:36:46Z</dcterms:modified>
  <cp:category/>
</cp:coreProperties>
</file>