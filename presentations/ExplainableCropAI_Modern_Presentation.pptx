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234440" y="813817"/>
            <a:ext cx="6537960" cy="1030858"/>
          </a:xfrm>
          <a:prstGeom prst="roundRect">
            <a:avLst/>
          </a:prstGeom>
          <a:solidFill>
            <a:srgbClr val="FFB300"/>
          </a:solidFill>
          <a:ln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94233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1E5631"/>
                </a:solidFill>
              </a:defRPr>
            </a:pPr>
            <a:r>
              <a:rPr dirty="0" err="1"/>
              <a:t>ExplainableCropAI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41143"/>
            <a:ext cx="6400800" cy="1752600"/>
          </a:xfrm>
        </p:spPr>
        <p:txBody>
          <a:bodyPr>
            <a:normAutofit fontScale="77500" lnSpcReduction="20000"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dirty="0"/>
              <a:t>Interpretable Deep Learning for Agricultural Disease Detection and Decision Support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dirty="0"/>
          </a:p>
          <a:p>
            <a:pPr algn="ctr">
              <a:defRPr sz="1800">
                <a:solidFill>
                  <a:srgbClr val="212121"/>
                </a:solidFill>
              </a:defRPr>
            </a:pPr>
            <a:r>
              <a:rPr dirty="0"/>
              <a:t>Santosh Kumar, Durgesh Nandan, Sumit Kumar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r>
              <a:rPr dirty="0"/>
              <a:t>Symbiosis Institute of Technology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r>
              <a:rPr dirty="0"/>
              <a:t>Symbiosis International University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dirty="0"/>
          </a:p>
          <a:p>
            <a:pPr algn="ctr">
              <a:defRPr sz="1800">
                <a:solidFill>
                  <a:srgbClr val="212121"/>
                </a:solidFill>
              </a:defRPr>
            </a:pPr>
            <a:r>
              <a:rPr dirty="0"/>
              <a:t>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3200" b="1">
                <a:solidFill>
                  <a:srgbClr val="1E5631"/>
                </a:solidFill>
              </a:defRPr>
            </a:pPr>
            <a:r>
              <a:rPr dirty="0"/>
              <a:t>The Problem</a:t>
            </a:r>
            <a:r>
              <a:rPr lang="en-IN" dirty="0"/>
              <a:t>: </a:t>
            </a:r>
            <a:r>
              <a:rPr dirty="0"/>
              <a:t>Black-Box AI in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Challenge: AI systems function as "black boxes"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    - Farmers don't trust what they can't understand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    - Limited adoption despite high accuracy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Impact: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    - Significant crop losses due to paddy diseases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    - Underutilization of advanced AI technologies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    - Gap between AI capabilities and application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Key Question: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    How can we make AI disease detection transparent and trustworthy for farmers?</a:t>
            </a:r>
          </a:p>
        </p:txBody>
      </p:sp>
      <p:pic>
        <p:nvPicPr>
          <p:cNvPr id="5" name="Picture 4" descr="explana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1887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Our Solution: </a:t>
            </a:r>
            <a:r>
              <a:rPr lang="en-IN" dirty="0" err="1"/>
              <a:t>ExplainableCropAI</a:t>
            </a:r>
            <a:r>
              <a:rPr dirty="0"/>
              <a:t> Framework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3293" y="4910328"/>
            <a:ext cx="40347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dirty="0"/>
              <a:t>Key Innovations: Multi-level explanations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170AD-33AF-78EB-381C-AA4CB6B75A1F}"/>
              </a:ext>
            </a:extLst>
          </p:cNvPr>
          <p:cNvSpPr txBox="1"/>
          <p:nvPr/>
        </p:nvSpPr>
        <p:spPr>
          <a:xfrm>
            <a:off x="1581912" y="5279660"/>
            <a:ext cx="4486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Domain-specific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User-centered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Transparency without performance compromise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Visual Explanations: Grad-CAM Disease Detection</a:t>
            </a:r>
          </a:p>
        </p:txBody>
      </p:sp>
      <p:pic>
        <p:nvPicPr>
          <p:cNvPr id="4" name="Picture 3" descr="gradcam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Grad-CAM heatmaps highlight disease-affected regions, providing visual evidence for AI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Uncertainty Quantification &amp; Recommendations</a:t>
            </a:r>
          </a:p>
        </p:txBody>
      </p:sp>
      <p:pic>
        <p:nvPicPr>
          <p:cNvPr id="4" name="Picture 3" descr="uncertainty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200400"/>
          </a:xfrm>
          <a:prstGeom prst="rect">
            <a:avLst/>
          </a:prstGeom>
        </p:spPr>
      </p:pic>
      <p:pic>
        <p:nvPicPr>
          <p:cNvPr id="5" name="Picture 4" descr="uncertainty_recommend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8038" y="4754880"/>
            <a:ext cx="458792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rPr dirty="0"/>
              <a:t>Monte Carlo Dropout provides confidence estimates </a:t>
            </a:r>
            <a:br>
              <a:rPr lang="en-IN" dirty="0"/>
            </a:br>
            <a:r>
              <a:rPr dirty="0"/>
              <a:t>• </a:t>
            </a:r>
            <a:r>
              <a:rPr sz="1400" dirty="0"/>
              <a:t>Uncertainty-aware treatment recommendations </a:t>
            </a:r>
            <a:br>
              <a:rPr lang="en-IN" sz="1400" dirty="0"/>
            </a:br>
            <a:r>
              <a:rPr sz="1400" dirty="0"/>
              <a:t>• Appropriate trust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Technical Performance Results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Performance Metrics: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Accuracy: 90.0%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Precision: 89.5%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Recall: 90.2%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F1-Score: 89.8%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Explanation Quality: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High localization accuracy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Effective pattern highlighting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No retraining required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Uncertainty Calibration: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Well-calibrated confidence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• Effective OOD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Confusion matrix shows balanced performance across all disease classes with minimal misclassification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User Evaluation Results</a:t>
            </a:r>
          </a:p>
        </p:txBody>
      </p:sp>
      <p:pic>
        <p:nvPicPr>
          <p:cNvPr id="4" name="Picture 3" descr="user_stud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3657600"/>
          </a:xfrm>
          <a:prstGeom prst="rect">
            <a:avLst/>
          </a:prstGeom>
        </p:spPr>
      </p:pic>
      <p:pic>
        <p:nvPicPr>
          <p:cNvPr id="5" name="Picture 4" descr="explanation_effec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371600"/>
            <a:ext cx="347472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12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User studies demonstrate improved decision-making accuracy and trust with explanation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System Interface &amp; User Experience</a:t>
            </a:r>
          </a:p>
        </p:txBody>
      </p:sp>
      <p:pic>
        <p:nvPicPr>
          <p:cNvPr id="4" name="Picture 3" descr="user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Intuitive interface integrating visual explanations, uncertainty estimates, and treatment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5631"/>
                </a:solidFill>
              </a:defRPr>
            </a:pPr>
            <a:r>
              <a:rPr dirty="0"/>
              <a:t>Key Contributions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1000"/>
              </a:spcAft>
              <a:buNone/>
              <a:defRPr sz="1600">
                <a:solidFill>
                  <a:srgbClr val="212121"/>
                </a:solidFill>
              </a:defRPr>
            </a:pPr>
            <a:r>
              <a:rPr sz="1400" b="1" dirty="0"/>
              <a:t>Research Contributions: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Novel Multi-level Explanation Framework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First comprehensive explainable AI system for paddy diseases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Integration of visual, textual, and uncertainty explanations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lang="en-IN" sz="1400"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Domain-Specific Knowledge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Agricultural expertise embedded in AI explanations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Context-aware recommendation generation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Empirical Validation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Demonstrated impact on user trust and decision-making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Competitive accuracy without sacrificing explainability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sz="1400"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Broader Impact: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sz="1400"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Agricultural Sustainability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Earlier disease detection and targeted interventions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Reduced unnecessary pesticide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sz="1400"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Responsible AI Deployment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Blueprint for explainable AI in agriculture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    - Bridging AI performance and human interpretability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5631"/>
                </a:solidFill>
              </a:defRPr>
            </a:pPr>
            <a:r>
              <a:t>Limitations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Current Limitations: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Dataset geographic constraints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Controlled evaluation environment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Manual input of contextual factors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Computational requirements for resource-constrained devices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Future Directions: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Personalized and Interactive Explanations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Adaptive explanation generation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User feedback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Extended Applications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Multiple crop types and diseases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Broader agricultural decision contexts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Enhanced Deployment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Lighter-weight mobile implementations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Real-world field testing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Long-term Studies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Learning effects over time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    - Adoption patterns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5631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Key Takeaways: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ExplainableCropAI successfully bridges the gap between AI accuracy and interpretability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Multi-level explanations provide comprehensive decision support for agricultural stakeholders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90% disease classification accuracy demonstrates that explainability doesn't compromise performance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User evaluation confirms improved trust and decision-making with explanations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Framework provides a foundation for responsible AI deployment in agriculture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Impact Statement: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"Transforming AI from a black-box prediction tool into an assistive technology that augments farmer decision-making"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This research contributes to the critical advancement of trustworthy AI systems in agriculture, supporting sustainable farming practices and food security.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5631"/>
                </a:solidFill>
              </a:defRPr>
            </a:pPr>
            <a:r>
              <a:t>Acknowledgments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Acknowledgments: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Symbiosis Institute of Technology for research support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Faculty guidance and mentorship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Academic research community at Symbiosis International University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Contact Information: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Author: Santosh Kumar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Email: santosh.kumar.mtech2022@sitpune.edu.in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Institution: Symbiosis Institute of Technology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GitHub: github.com/santoshray02/ExplainableCropAI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Research Context: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This research was conducted as part of an M.Tech program, representing an academic exploration of explainable AI techniques applied to agricultural disease detection.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Thank you for your attention!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Questions and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659</Words>
  <Application>Microsoft Office PowerPoint</Application>
  <PresentationFormat>On-screen Show (4:3)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ExplainableCropAI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Contributions &amp; Impact</vt:lpstr>
      <vt:lpstr>Limitations &amp; Future Directions</vt:lpstr>
      <vt:lpstr>Conclusion</vt:lpstr>
      <vt:lpstr>Acknowledgments &amp; 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 RAY</cp:lastModifiedBy>
  <cp:revision>2</cp:revision>
  <dcterms:created xsi:type="dcterms:W3CDTF">2013-01-27T09:14:16Z</dcterms:created>
  <dcterms:modified xsi:type="dcterms:W3CDTF">2025-06-27T07:08:39Z</dcterms:modified>
  <cp:category/>
</cp:coreProperties>
</file>